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sldIdLst>
    <p:sldId id="256" r:id="rId2"/>
    <p:sldId id="261" r:id="rId3"/>
    <p:sldId id="266" r:id="rId4"/>
    <p:sldId id="262" r:id="rId5"/>
    <p:sldId id="263" r:id="rId6"/>
    <p:sldId id="264" r:id="rId7"/>
    <p:sldId id="265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90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EBBFD82-E351-4471-9E0F-5795BABC1E8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5734DE9-5277-48D8-B5A1-BBDFAE64919B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34" y="0"/>
            <a:ext cx="9230434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86434" y="5334000"/>
            <a:ext cx="9230434" cy="1524000"/>
          </a:xfrm>
          <a:solidFill>
            <a:schemeClr val="bg2">
              <a:alpha val="32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latin typeface="Arial Narrow" panose="020B0606020202030204" pitchFamily="34" charset="0"/>
              </a:rPr>
              <a:t> </a:t>
            </a:r>
            <a:r>
              <a:rPr lang="en-GB" b="1" dirty="0" smtClean="0">
                <a:latin typeface="Arial Narrow" panose="020B0606020202030204" pitchFamily="34" charset="0"/>
              </a:rPr>
              <a:t> </a:t>
            </a:r>
          </a:p>
          <a:p>
            <a:r>
              <a:rPr lang="en-GB" b="1" dirty="0" smtClean="0">
                <a:latin typeface="Arial Narrow" panose="020B0606020202030204" pitchFamily="34" charset="0"/>
              </a:rPr>
              <a:t> Subtitle</a:t>
            </a:r>
            <a:r>
              <a:rPr lang="en-GB" b="1" dirty="0" smtClean="0">
                <a:latin typeface="Arial Narrow" panose="020B0606020202030204" pitchFamily="34" charset="0"/>
              </a:rPr>
              <a:t>:</a:t>
            </a:r>
            <a:r>
              <a:rPr lang="en-GB" dirty="0" smtClean="0">
                <a:latin typeface="Arial Narrow" panose="020B0606020202030204" pitchFamily="34" charset="0"/>
              </a:rPr>
              <a:t> Using Univariate, Bivariate, and Multivariate Statistical Techniques </a:t>
            </a:r>
            <a:r>
              <a:rPr lang="en-GB" dirty="0" smtClean="0">
                <a:latin typeface="Arial Narrow" panose="020B0606020202030204" pitchFamily="34" charset="0"/>
              </a:rPr>
              <a:t>                                              </a:t>
            </a:r>
          </a:p>
          <a:p>
            <a:r>
              <a:rPr lang="en-GB" b="1" dirty="0" smtClean="0">
                <a:latin typeface="Arial Narrow" panose="020B0606020202030204" pitchFamily="34" charset="0"/>
              </a:rPr>
              <a:t>   Presented </a:t>
            </a:r>
            <a:r>
              <a:rPr lang="en-GB" b="1" dirty="0" smtClean="0">
                <a:latin typeface="Arial Narrow" panose="020B0606020202030204" pitchFamily="34" charset="0"/>
              </a:rPr>
              <a:t>by:</a:t>
            </a:r>
            <a:r>
              <a:rPr lang="en-GB" dirty="0" smtClean="0">
                <a:latin typeface="Arial Narrow" panose="020B0606020202030204" pitchFamily="34" charset="0"/>
              </a:rPr>
              <a:t> [komal jain]</a:t>
            </a:r>
            <a:endParaRPr lang="en-GB" dirty="0" smtClean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   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86434" y="0"/>
            <a:ext cx="9230434" cy="1371600"/>
          </a:xfrm>
          <a:solidFill>
            <a:schemeClr val="accent1">
              <a:lumMod val="20000"/>
              <a:lumOff val="80000"/>
              <a:alpha val="52000"/>
            </a:schemeClr>
          </a:solidFill>
        </p:spPr>
        <p:txBody>
          <a:bodyPr>
            <a:normAutofit/>
          </a:bodyPr>
          <a:lstStyle/>
          <a:p>
            <a:pPr marL="182880" indent="0">
              <a:buNone/>
            </a:pPr>
            <a:r>
              <a:rPr lang="en-GB" sz="3600" dirty="0">
                <a:latin typeface="Bodoni MT Black" panose="02070A03080606020203" pitchFamily="18" charset="0"/>
              </a:rPr>
              <a:t>Exploratory Data Analysis of Large-Scale Retail Transaction Data</a:t>
            </a:r>
            <a:endParaRPr lang="en-GB" sz="36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3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397041"/>
            <a:ext cx="86106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Arial Black" panose="020B0A04020102020204" pitchFamily="34" charset="0"/>
              </a:rPr>
              <a:t> </a:t>
            </a:r>
            <a:r>
              <a:rPr lang="en-GB" sz="2400" dirty="0">
                <a:latin typeface="Bodoni MT Black" panose="02070A03080606020203" pitchFamily="18" charset="0"/>
              </a:rPr>
              <a:t>Introduction &amp; Project </a:t>
            </a:r>
            <a:r>
              <a:rPr lang="en-GB" sz="2400" dirty="0" smtClean="0">
                <a:latin typeface="Bodoni MT Black" panose="02070A03080606020203" pitchFamily="18" charset="0"/>
              </a:rPr>
              <a:t>Objectives</a:t>
            </a:r>
          </a:p>
          <a:p>
            <a:pPr algn="ctr"/>
            <a:endParaRPr lang="en-US" sz="2400" dirty="0">
              <a:latin typeface="Arial Black" panose="020B0A04020102020204" pitchFamily="34" charset="0"/>
            </a:endParaRPr>
          </a:p>
          <a:p>
            <a:pPr algn="ctr"/>
            <a:endParaRPr lang="en-US" sz="2000" b="1" dirty="0" smtClean="0"/>
          </a:p>
          <a:p>
            <a:pPr algn="ctr"/>
            <a:endParaRPr lang="en-US" sz="2000" b="1" dirty="0">
              <a:latin typeface="Arial Black" panose="020B0A04020102020204" pitchFamily="34" charset="0"/>
            </a:endParaRPr>
          </a:p>
          <a:p>
            <a:pPr algn="ctr"/>
            <a:endParaRPr lang="en-US" sz="2000" b="1" dirty="0" smtClean="0">
              <a:latin typeface="Arial Black" panose="020B0A04020102020204" pitchFamily="34" charset="0"/>
            </a:endParaRPr>
          </a:p>
          <a:p>
            <a:pPr algn="ctr"/>
            <a:endParaRPr lang="en-US" sz="2000" b="1" dirty="0">
              <a:latin typeface="Arial Black" panose="020B0A04020102020204" pitchFamily="34" charset="0"/>
            </a:endParaRPr>
          </a:p>
          <a:p>
            <a:pPr algn="ctr"/>
            <a:r>
              <a:rPr lang="en-GB" sz="2000" b="1" dirty="0">
                <a:latin typeface="Bahnschrift Light" panose="020B0502040204020203" pitchFamily="34" charset="0"/>
              </a:rPr>
              <a:t>Definition of EDA</a:t>
            </a:r>
            <a:r>
              <a:rPr lang="en-GB" sz="2000" b="1" dirty="0" smtClean="0">
                <a:latin typeface="Bahnschrift Light" panose="020B0502040204020203" pitchFamily="34" charset="0"/>
              </a:rPr>
              <a:t>: </a:t>
            </a:r>
            <a:r>
              <a:rPr lang="en-GB" sz="2000" dirty="0" smtClean="0">
                <a:latin typeface="Bahnschrift Light" panose="020B0502040204020203" pitchFamily="34" charset="0"/>
              </a:rPr>
              <a:t> </a:t>
            </a:r>
            <a:r>
              <a:rPr lang="en-GB" sz="2000" dirty="0">
                <a:latin typeface="Bahnschrift Light" panose="020B0502040204020203" pitchFamily="34" charset="0"/>
              </a:rPr>
              <a:t>A statistical approach to summarize and visualize data before </a:t>
            </a:r>
            <a:r>
              <a:rPr lang="en-GB" sz="2000" dirty="0" smtClean="0">
                <a:latin typeface="Bahnschrift Light" panose="020B0502040204020203" pitchFamily="34" charset="0"/>
              </a:rPr>
              <a:t>predictive modeling.</a:t>
            </a:r>
          </a:p>
          <a:p>
            <a:pPr algn="ctr"/>
            <a:r>
              <a:rPr lang="en-US" sz="2000" dirty="0" smtClean="0">
                <a:latin typeface="Bahnschrift Light" panose="020B0502040204020203" pitchFamily="34" charset="0"/>
              </a:rPr>
              <a:t>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Bahnschrift Light" panose="020B0502040204020203" pitchFamily="34" charset="0"/>
              </a:rPr>
              <a:t>Primary Goals:</a:t>
            </a:r>
            <a:endParaRPr lang="en-GB" sz="2000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 Light" panose="020B0502040204020203" pitchFamily="34" charset="0"/>
              </a:rPr>
              <a:t>Perform multi-level statistical analysis (Univariate, Bivariate, Multivariate).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 Light" panose="020B0502040204020203" pitchFamily="34" charset="0"/>
              </a:rPr>
              <a:t>Identify unusual patterns and detect outliers.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 Light" panose="020B0502040204020203" pitchFamily="34" charset="0"/>
              </a:rPr>
              <a:t>Measure correlations and distribution shapes (Skewness/Kurtosis).</a:t>
            </a:r>
          </a:p>
          <a:p>
            <a:pPr algn="ctr"/>
            <a:endParaRPr lang="en-US" sz="2000" dirty="0" smtClean="0">
              <a:latin typeface="Bahnschrift Light" panose="020B0502040204020203" pitchFamily="34" charset="0"/>
            </a:endParaRPr>
          </a:p>
          <a:p>
            <a:pPr algn="ctr"/>
            <a:endParaRPr lang="en-US" sz="2400" dirty="0" smtClean="0">
              <a:latin typeface="Arial Black" panose="020B0A04020102020204" pitchFamily="34" charset="0"/>
            </a:endParaRPr>
          </a:p>
          <a:p>
            <a:pPr algn="ctr"/>
            <a:endParaRPr lang="en-US" sz="2400" dirty="0" smtClean="0">
              <a:latin typeface="Arial Black" panose="020B0A04020102020204" pitchFamily="34" charset="0"/>
            </a:endParaRPr>
          </a:p>
          <a:p>
            <a:pPr algn="ctr"/>
            <a:endParaRPr lang="en-GB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25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28601"/>
            <a:ext cx="9144000" cy="68580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381000"/>
            <a:ext cx="72390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Bodoni MT Black" panose="02070A03080606020203" pitchFamily="18" charset="0"/>
              </a:rPr>
              <a:t> </a:t>
            </a:r>
            <a:r>
              <a:rPr lang="en-GB" sz="2800" dirty="0" smtClean="0">
                <a:latin typeface="Bodoni MT Black" panose="02070A03080606020203" pitchFamily="18" charset="0"/>
              </a:rPr>
              <a:t>           </a:t>
            </a:r>
            <a:r>
              <a:rPr lang="en-GB" sz="2800" dirty="0" smtClean="0">
                <a:latin typeface="Bodoni MT Black" panose="02070A03080606020203" pitchFamily="18" charset="0"/>
              </a:rPr>
              <a:t> </a:t>
            </a:r>
            <a:r>
              <a:rPr lang="en-GB" sz="4000" dirty="0" smtClean="0">
                <a:latin typeface="Bodoni MT Black" panose="02070A03080606020203" pitchFamily="18" charset="0"/>
              </a:rPr>
              <a:t>Dataset Overview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" y="5333999"/>
            <a:ext cx="9144000" cy="1631216"/>
          </a:xfrm>
          <a:prstGeom prst="rect">
            <a:avLst/>
          </a:prstGeom>
          <a:solidFill>
            <a:schemeClr val="tx2">
              <a:lumMod val="20000"/>
              <a:lumOff val="8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en-GB" sz="2000" b="1" dirty="0" smtClean="0">
                <a:latin typeface="Bahnschrift Light" panose="020B0502040204020203" pitchFamily="34" charset="0"/>
              </a:rPr>
              <a:t>Data </a:t>
            </a:r>
            <a:r>
              <a:rPr lang="en-GB" sz="2000" b="1" dirty="0">
                <a:latin typeface="Bahnschrift Light" panose="020B0502040204020203" pitchFamily="34" charset="0"/>
              </a:rPr>
              <a:t>Scale:</a:t>
            </a:r>
            <a:r>
              <a:rPr lang="en-GB" sz="2000" dirty="0">
                <a:latin typeface="Bahnschrift Light" panose="020B0502040204020203" pitchFamily="34" charset="0"/>
              </a:rPr>
              <a:t> 100,000 records and 18 variables</a:t>
            </a:r>
            <a:r>
              <a:rPr lang="en-GB" sz="2000" dirty="0" smtClean="0">
                <a:latin typeface="Bahnschrift Light" panose="020B0502040204020203" pitchFamily="34" charset="0"/>
              </a:rPr>
              <a:t>.</a:t>
            </a:r>
            <a:endParaRPr lang="en-GB" sz="2000" dirty="0">
              <a:latin typeface="Bahnschrift Light" panose="020B0502040204020203" pitchFamily="34" charset="0"/>
            </a:endParaRPr>
          </a:p>
          <a:p>
            <a:r>
              <a:rPr lang="en-GB" sz="2000" b="1" dirty="0">
                <a:latin typeface="Bahnschrift Light" panose="020B0502040204020203" pitchFamily="34" charset="0"/>
              </a:rPr>
              <a:t>Data Types:</a:t>
            </a:r>
            <a:r>
              <a:rPr lang="en-GB" sz="2000" dirty="0">
                <a:latin typeface="Bahnschrift Light" panose="020B0502040204020203" pitchFamily="34" charset="0"/>
              </a:rPr>
              <a:t> A mix of Categorical, Numerical, and Date types.</a:t>
            </a:r>
          </a:p>
          <a:p>
            <a:r>
              <a:rPr lang="en-GB" sz="2000" b="1" dirty="0">
                <a:latin typeface="Bahnschrift Light" panose="020B0502040204020203" pitchFamily="34" charset="0"/>
              </a:rPr>
              <a:t>Tools Used:</a:t>
            </a:r>
            <a:r>
              <a:rPr lang="en-GB" sz="2000" dirty="0">
                <a:latin typeface="Bahnschrift Light" panose="020B0502040204020203" pitchFamily="34" charset="0"/>
              </a:rPr>
              <a:t> Python libraries including </a:t>
            </a:r>
            <a:r>
              <a:rPr lang="en-GB" sz="2000" b="1" dirty="0">
                <a:latin typeface="Bahnschrift Light" panose="020B0502040204020203" pitchFamily="34" charset="0"/>
              </a:rPr>
              <a:t>Pandas</a:t>
            </a:r>
            <a:r>
              <a:rPr lang="en-GB" sz="2000" dirty="0">
                <a:latin typeface="Bahnschrift Light" panose="020B0502040204020203" pitchFamily="34" charset="0"/>
              </a:rPr>
              <a:t> (manipulation), </a:t>
            </a:r>
            <a:r>
              <a:rPr lang="en-GB" sz="2000" b="1" dirty="0">
                <a:latin typeface="Bahnschrift Light" panose="020B0502040204020203" pitchFamily="34" charset="0"/>
              </a:rPr>
              <a:t>Numpy</a:t>
            </a:r>
            <a:r>
              <a:rPr lang="en-GB" sz="2000" dirty="0">
                <a:latin typeface="Bahnschrift Light" panose="020B0502040204020203" pitchFamily="34" charset="0"/>
              </a:rPr>
              <a:t> (arrays), </a:t>
            </a:r>
            <a:r>
              <a:rPr lang="en-GB" sz="2000" b="1" dirty="0">
                <a:latin typeface="Bahnschrift Light" panose="020B0502040204020203" pitchFamily="34" charset="0"/>
              </a:rPr>
              <a:t>Matplotlib</a:t>
            </a:r>
            <a:r>
              <a:rPr lang="en-GB" sz="2000" dirty="0">
                <a:latin typeface="Bahnschrift Light" panose="020B0502040204020203" pitchFamily="34" charset="0"/>
              </a:rPr>
              <a:t>, and </a:t>
            </a:r>
            <a:r>
              <a:rPr lang="en-GB" sz="2000" b="1" dirty="0">
                <a:latin typeface="Bahnschrift Light" panose="020B0502040204020203" pitchFamily="34" charset="0"/>
              </a:rPr>
              <a:t>Seaborn</a:t>
            </a:r>
            <a:r>
              <a:rPr lang="en-GB" sz="2000" dirty="0">
                <a:latin typeface="Bahnschrift Light" panose="020B0502040204020203" pitchFamily="34" charset="0"/>
              </a:rPr>
              <a:t> (visualization).</a:t>
            </a:r>
          </a:p>
          <a:p>
            <a:r>
              <a:rPr lang="en-US" sz="2000" dirty="0" smtClean="0">
                <a:latin typeface="Bahnschrift Light" panose="020B0502040204020203" pitchFamily="34" charset="0"/>
              </a:rPr>
              <a:t>  </a:t>
            </a:r>
            <a:endParaRPr lang="en-GB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8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0999"/>
            <a:ext cx="8153400" cy="7940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latin typeface="Arial Black" panose="020B0A04020102020204" pitchFamily="34" charset="0"/>
              </a:rPr>
              <a:t> </a:t>
            </a:r>
            <a:r>
              <a:rPr lang="en-GB" sz="2400" dirty="0" smtClean="0">
                <a:latin typeface="Bodoni MT Black" panose="02070A03080606020203" pitchFamily="18" charset="0"/>
              </a:rPr>
              <a:t>Univariate Analysis – Numerical Insights</a:t>
            </a:r>
          </a:p>
          <a:p>
            <a:r>
              <a:rPr lang="en-US" dirty="0" smtClean="0">
                <a:latin typeface="Arial Black" panose="020B0A04020102020204" pitchFamily="34" charset="0"/>
              </a:rPr>
              <a:t>   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 smtClean="0">
              <a:latin typeface="Arial Black" panose="020B0A04020102020204" pitchFamily="34" charset="0"/>
            </a:endParaRP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 smtClean="0">
              <a:latin typeface="Arial Black" panose="020B0A04020102020204" pitchFamily="34" charset="0"/>
            </a:endParaRP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 smtClean="0">
              <a:latin typeface="Arial Black" panose="020B0A04020102020204" pitchFamily="34" charset="0"/>
            </a:endParaRPr>
          </a:p>
          <a:p>
            <a:r>
              <a:rPr lang="en-GB" b="1" dirty="0" smtClean="0">
                <a:latin typeface="Bahnschrift Light" panose="020B0502040204020203" pitchFamily="34" charset="0"/>
              </a:rPr>
              <a:t>Metrics:</a:t>
            </a:r>
            <a:r>
              <a:rPr lang="en-GB" dirty="0" smtClean="0">
                <a:latin typeface="Bahnschrift Light" panose="020B0502040204020203" pitchFamily="34" charset="0"/>
              </a:rPr>
              <a:t> Calculated Mean, Median, Std Deviation, Skewness, and Kurtosis.</a:t>
            </a:r>
          </a:p>
          <a:p>
            <a:r>
              <a:rPr lang="en-GB" b="1" dirty="0" smtClean="0">
                <a:latin typeface="Bahnschrift Light" panose="020B0502040204020203" pitchFamily="34" charset="0"/>
              </a:rPr>
              <a:t>Key Findings:                           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 smtClean="0">
                <a:latin typeface="Bahnschrift Light" panose="020B0502040204020203" pitchFamily="34" charset="0"/>
              </a:rPr>
              <a:t>product_price: Positively skewed, indicating a majority of lower-priced products.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 smtClean="0">
                <a:latin typeface="Bahnschrift Light" panose="020B0502040204020203" pitchFamily="34" charset="0"/>
              </a:rPr>
              <a:t>final_price: High kurtosis, showing the presence of extreme bulk purchase values.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 smtClean="0">
                <a:latin typeface="Bahnschrift Light" panose="020B0502040204020203" pitchFamily="34" charset="0"/>
              </a:rPr>
              <a:t>discount_percentage: Uniformly distributed between 0–30%.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latin typeface="Bahnschrift Ligh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Bell MT" panose="020205030603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Bell MT" panose="020205030603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Bell MT" panose="020205030603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Bell MT" panose="02020503060305020303" pitchFamily="18" charset="0"/>
            </a:endParaRPr>
          </a:p>
          <a:p>
            <a:endParaRPr lang="en-GB" dirty="0" smtClean="0"/>
          </a:p>
          <a:p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73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0" y="0"/>
            <a:ext cx="10287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33400" y="152401"/>
            <a:ext cx="8610600" cy="5724644"/>
          </a:xfrm>
          <a:prstGeom prst="rect">
            <a:avLst/>
          </a:prstGeom>
          <a:solidFill>
            <a:schemeClr val="accent1">
              <a:lumMod val="20000"/>
              <a:lumOff val="80000"/>
              <a:alpha val="33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 </a:t>
            </a:r>
            <a:r>
              <a:rPr lang="en-GB" sz="2400" dirty="0" smtClean="0">
                <a:latin typeface="Bodoni MT Black" panose="02070A03080606020203" pitchFamily="18" charset="0"/>
              </a:rPr>
              <a:t>Univariate Analysis – Categorical Insights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Segments Analyzed:</a:t>
            </a:r>
            <a:r>
              <a:rPr lang="en-GB" sz="2000" dirty="0" smtClean="0">
                <a:latin typeface="Bahnschrift Light" panose="020B0502040204020203" pitchFamily="34" charset="0"/>
              </a:rPr>
              <a:t> Product Category, Customer Segment, Payment Method, and Return Status.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Key </a:t>
            </a:r>
            <a:r>
              <a:rPr lang="en-GB" sz="2000" b="1" dirty="0" smtClean="0">
                <a:latin typeface="Bahnschrift Light" panose="020B0502040204020203" pitchFamily="34" charset="0"/>
              </a:rPr>
              <a:t>Findings</a:t>
            </a:r>
            <a:r>
              <a:rPr lang="en-GB" sz="2000" b="1" dirty="0" smtClean="0">
                <a:latin typeface="Bahnschrift Light" panose="020B0502040204020203" pitchFamily="34" charset="0"/>
              </a:rPr>
              <a:t>:  </a:t>
            </a:r>
          </a:p>
          <a:p>
            <a:r>
              <a:rPr lang="en-GB" sz="2000" b="1" dirty="0" smtClean="0">
                <a:latin typeface="Bahnschrift Light" panose="020B0502040204020203" pitchFamily="34" charset="0"/>
              </a:rPr>
              <a:t>   </a:t>
            </a:r>
            <a:endParaRPr lang="en-GB" sz="2000" dirty="0" smtClean="0">
              <a:latin typeface="Bahnschrift Light" panose="020B0502040204020203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Top Category:</a:t>
            </a:r>
            <a:r>
              <a:rPr lang="en-GB" sz="2000" dirty="0" smtClean="0">
                <a:latin typeface="Bahnschrift Light" panose="020B0502040204020203" pitchFamily="34" charset="0"/>
              </a:rPr>
              <a:t> Electronics had the highest transaction count.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Customer </a:t>
            </a:r>
            <a:r>
              <a:rPr lang="en-GB" sz="2000" b="1" dirty="0" smtClean="0">
                <a:latin typeface="Bahnschrift Light" panose="020B0502040204020203" pitchFamily="34" charset="0"/>
              </a:rPr>
              <a:t>Base:</a:t>
            </a:r>
            <a:r>
              <a:rPr lang="en-GB" sz="2000" dirty="0" smtClean="0">
                <a:latin typeface="Bahnschrift Light" panose="020B0502040204020203" pitchFamily="34" charset="0"/>
              </a:rPr>
              <a:t> The majority of customers belong to the "Regular" segment.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Return Rate:</a:t>
            </a:r>
            <a:r>
              <a:rPr lang="en-GB" sz="2000" dirty="0" smtClean="0">
                <a:latin typeface="Bahnschrift Light" panose="020B0502040204020203" pitchFamily="34" charset="0"/>
              </a:rPr>
              <a:t> Approximately 15% of transactions result in returns.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6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28600"/>
            <a:ext cx="586740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/>
              <a:t> </a:t>
            </a:r>
            <a:r>
              <a:rPr lang="en-GB" sz="2800" dirty="0" smtClean="0">
                <a:latin typeface="Bodoni MT Black" panose="02070A03080606020203" pitchFamily="18" charset="0"/>
              </a:rPr>
              <a:t>Outlier Detection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Bahnschrift Light" panose="020B0502040204020203" pitchFamily="34" charset="0"/>
              </a:rPr>
              <a:t>Methodology:</a:t>
            </a:r>
            <a:r>
              <a:rPr lang="en-GB" dirty="0" smtClean="0">
                <a:latin typeface="Bahnschrift Light" panose="020B0502040204020203" pitchFamily="34" charset="0"/>
              </a:rPr>
              <a:t> Used Boxplots, Z-score, and Interquartile Range (IQR).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Bahnschrift Light" panose="020B0502040204020203" pitchFamily="34" charset="0"/>
              </a:rPr>
              <a:t>Observations</a:t>
            </a:r>
            <a:r>
              <a:rPr lang="en-GB" b="1" dirty="0" smtClean="0">
                <a:latin typeface="Bahnschrift Light" panose="020B0502040204020203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Bahnschrift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latin typeface="Bahnschrift Light" panose="020B0502040204020203" pitchFamily="34" charset="0"/>
            </a:endParaRPr>
          </a:p>
          <a:p>
            <a:endParaRPr lang="en-GB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Bahnschrift Light" panose="020B0502040204020203" pitchFamily="34" charset="0"/>
              </a:rPr>
              <a:t>Extreme values identified in product_price and final_price.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Bahnschrift Light" panose="020B0502040204020203" pitchFamily="34" charset="0"/>
              </a:rPr>
              <a:t>Outliers were kept as they represent valid high-value premium transactions.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Bahnschrift Light" panose="020B0502040204020203" pitchFamily="34" charset="0"/>
              </a:rPr>
              <a:t>Operational outliers found in delivery times.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>
              <a:latin typeface="Bahnschrift Light" panose="020B0502040204020203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 smtClean="0">
              <a:latin typeface="Bahnschrift Light" panose="020B0502040204020203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>
              <a:latin typeface="Bahnschrift Light" panose="020B0502040204020203" pitchFamily="34" charset="0"/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47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81000"/>
            <a:ext cx="77724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Bivariate &amp; Correlation Analysis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Bahnschrift Light" panose="020B0502040204020203" pitchFamily="34" charset="0"/>
              </a:rPr>
              <a:t>Relationships:</a:t>
            </a:r>
            <a:endParaRPr lang="en-GB" sz="2000" dirty="0" smtClean="0">
              <a:latin typeface="Bahnschrift Ligh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Bahnschrift Light" panose="020B0502040204020203" pitchFamily="34" charset="0"/>
              </a:rPr>
              <a:t>Strong Positive Correlation:</a:t>
            </a:r>
            <a:r>
              <a:rPr lang="en-GB" sz="2000" dirty="0" smtClean="0">
                <a:latin typeface="Bahnschrift Light" panose="020B0502040204020203" pitchFamily="34" charset="0"/>
              </a:rPr>
              <a:t> Between product_price, quantity, and final_price.</a:t>
            </a:r>
          </a:p>
          <a:p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>
                <a:latin typeface="Bahnschrift Light" panose="020B0502040204020203" pitchFamily="34" charset="0"/>
              </a:rPr>
              <a:t>Negative Correlation:</a:t>
            </a:r>
            <a:r>
              <a:rPr lang="en-GB" sz="2000" dirty="0">
                <a:latin typeface="Bahnschrift Light" panose="020B0502040204020203" pitchFamily="34" charset="0"/>
              </a:rPr>
              <a:t> discount_percentage negatively impacts revenue per unit.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>
                <a:latin typeface="Bahnschrift Light" panose="020B0502040204020203" pitchFamily="34" charset="0"/>
              </a:rPr>
              <a:t>Customer Spending:</a:t>
            </a:r>
            <a:r>
              <a:rPr lang="en-GB" sz="2000" dirty="0">
                <a:latin typeface="Bahnschrift Light" panose="020B0502040204020203" pitchFamily="34" charset="0"/>
              </a:rPr>
              <a:t> Premium customers show significantly higher average spending.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06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1" y="152400"/>
            <a:ext cx="83820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/>
              <a:t> </a:t>
            </a:r>
            <a:r>
              <a:rPr lang="en-GB" sz="2800" dirty="0" smtClean="0">
                <a:latin typeface="Bodoni MT Black" panose="02070A03080606020203" pitchFamily="18" charset="0"/>
              </a:rPr>
              <a:t>Multivariate Analysis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 smtClean="0">
                <a:latin typeface="Bahnschrift Light" panose="020B0502040204020203" pitchFamily="34" charset="0"/>
              </a:rPr>
              <a:t>Complex Interactions:</a:t>
            </a:r>
          </a:p>
          <a:p>
            <a:pPr algn="ctr"/>
            <a:endParaRPr lang="en-GB" dirty="0" smtClean="0"/>
          </a:p>
          <a:p>
            <a:pPr marL="800100" lvl="1" indent="-342900" algn="ctr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Revenue Optimization:</a:t>
            </a:r>
            <a:r>
              <a:rPr lang="en-GB" sz="2000" dirty="0" smtClean="0">
                <a:latin typeface="Bahnschrift Light" panose="020B0502040204020203" pitchFamily="34" charset="0"/>
              </a:rPr>
              <a:t> Electronics with moderate discounts generate the highest revenue.</a:t>
            </a:r>
          </a:p>
          <a:p>
            <a:pPr marL="800100" lvl="1" indent="-342900" algn="ctr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High-Value Targets:</a:t>
            </a:r>
            <a:r>
              <a:rPr lang="en-GB" sz="2000" dirty="0" smtClean="0">
                <a:latin typeface="Bahnschrift Light" panose="020B0502040204020203" pitchFamily="34" charset="0"/>
              </a:rPr>
              <a:t> Premium customers aged 30–45 are the highest spenders.</a:t>
            </a:r>
          </a:p>
          <a:p>
            <a:pPr marL="800100" lvl="1" indent="-342900" algn="ctr">
              <a:buFont typeface="Wingdings" panose="05000000000000000000" pitchFamily="2" charset="2"/>
              <a:buChar char="q"/>
            </a:pPr>
            <a:r>
              <a:rPr lang="en-GB" sz="2000" b="1" dirty="0" smtClean="0">
                <a:latin typeface="Bahnschrift Light" panose="020B0502040204020203" pitchFamily="34" charset="0"/>
              </a:rPr>
              <a:t>Operational Risk:</a:t>
            </a:r>
            <a:r>
              <a:rPr lang="en-GB" sz="2000" dirty="0" smtClean="0">
                <a:latin typeface="Bahnschrift Light" panose="020B0502040204020203" pitchFamily="34" charset="0"/>
              </a:rPr>
              <a:t> Standard shipping with long delivery times increases the probability of returns.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82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57199"/>
            <a:ext cx="81534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 </a:t>
            </a:r>
            <a:r>
              <a:rPr lang="en-GB" sz="2400" dirty="0" smtClean="0">
                <a:latin typeface="Bodoni MT Black" panose="02070A03080606020203" pitchFamily="18" charset="0"/>
              </a:rPr>
              <a:t>Distribution Shape (Skewness &amp; Kurtosis)</a:t>
            </a:r>
          </a:p>
          <a:p>
            <a:endParaRPr lang="en-US" sz="2400" dirty="0">
              <a:latin typeface="Bodoni MT Black" panose="02070A03080606020203" pitchFamily="18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Bahnschrift Light" panose="020B0502040204020203" pitchFamily="34" charset="0"/>
              </a:rPr>
              <a:t>Skewness Interpretation:</a:t>
            </a:r>
            <a:r>
              <a:rPr lang="en-GB" sz="2000" dirty="0">
                <a:latin typeface="Bahnschrift Light" panose="020B0502040204020203" pitchFamily="34" charset="0"/>
              </a:rPr>
              <a:t> Positive skew in revenue suggests the business relies on many small transactions with a few high-value spikes.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Bahnschrift Light" panose="020B0502040204020203" pitchFamily="34" charset="0"/>
              </a:rPr>
              <a:t>Kurtosis Interpretation:</a:t>
            </a:r>
            <a:r>
              <a:rPr lang="en-GB" sz="2000" dirty="0">
                <a:latin typeface="Bahnschrift Light" panose="020B0502040204020203" pitchFamily="34" charset="0"/>
              </a:rPr>
              <a:t> High kurtosis in final_price confirms "Heavy Tails," representing extreme high-value purchase behaviors.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Bahnschrift Light" panose="020B0502040204020203" pitchFamily="34" charset="0"/>
              </a:rPr>
              <a:t>Risk Management:</a:t>
            </a:r>
            <a:r>
              <a:rPr lang="en-GB" sz="2000" dirty="0">
                <a:latin typeface="Bahnschrift Light" panose="020B0502040204020203" pitchFamily="34" charset="0"/>
              </a:rPr>
              <a:t> These metrics help identify distribution asymmetry and business risk areas.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01932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19199"/>
            <a:ext cx="8305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 </a:t>
            </a:r>
            <a:r>
              <a:rPr lang="en-GB" sz="2400" dirty="0" smtClean="0">
                <a:latin typeface="Bodoni MT Black" panose="02070A03080606020203" pitchFamily="18" charset="0"/>
              </a:rPr>
              <a:t>Conclusion &amp; Business Recommendations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Bahnschrift Light" panose="020B0502040204020203" pitchFamily="34" charset="0"/>
              </a:rPr>
              <a:t>Summary:</a:t>
            </a:r>
            <a:r>
              <a:rPr lang="en-GB" sz="2000" dirty="0">
                <a:latin typeface="Bahnschrift Light" panose="020B0502040204020203" pitchFamily="34" charset="0"/>
              </a:rPr>
              <a:t> Successfully applied statistical techniques to provide a foundation for predictive modeling.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Bahnschrift Light" panose="020B0502040204020203" pitchFamily="34" charset="0"/>
              </a:rPr>
              <a:t>Key Takeaways:</a:t>
            </a:r>
            <a:endParaRPr lang="en-GB" sz="2000" dirty="0">
              <a:latin typeface="Bahnschrift Ligh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 Light" panose="020B0502040204020203" pitchFamily="34" charset="0"/>
              </a:rPr>
              <a:t>Revenue is driven by limited high-value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 Light" panose="020B0502040204020203" pitchFamily="34" charset="0"/>
              </a:rPr>
              <a:t>Moderate discounts are the most effective pricing strategy.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 Light" panose="020B0502040204020203" pitchFamily="34" charset="0"/>
              </a:rPr>
              <a:t>Improving delivery times can reduce the return rate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53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266</TotalTime>
  <Words>488</Words>
  <Application>Microsoft Office PowerPoint</Application>
  <PresentationFormat>On-screen Show (4:3)</PresentationFormat>
  <Paragraphs>121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Slipstream</vt:lpstr>
      <vt:lpstr>Exploratory Data Analysis of Large-Scale Retail Transaction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Large-Scale Retail Transaction Data</dc:title>
  <dc:creator>hp</dc:creator>
  <cp:lastModifiedBy>hp</cp:lastModifiedBy>
  <cp:revision>19</cp:revision>
  <dcterms:created xsi:type="dcterms:W3CDTF">2026-03-25T10:37:51Z</dcterms:created>
  <dcterms:modified xsi:type="dcterms:W3CDTF">2026-03-25T17:56:44Z</dcterms:modified>
</cp:coreProperties>
</file>